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0978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F6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3A5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083A50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822960"/>
            <a:ext cx="502920" cy="50292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822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3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PPE COMPLIANCE DETECTOR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A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PPE Verification for Home Health Caregivers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ITAI 1378  —  Final Presentation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778240" y="379476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/>
        </p:spPr>
      </p:sp>
      <p:sp>
        <p:nvSpPr>
          <p:cNvPr id="10" name="Text 8"/>
          <p:cNvSpPr/>
          <p:nvPr/>
        </p:nvSpPr>
        <p:spPr>
          <a:xfrm>
            <a:off x="8778240" y="37947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TRAINED ✓ 90% mAP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544068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8FA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Huy Nguyen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544068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8FA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TIER
</a:t>
            </a:r>
            <a:endParaRPr lang="en-US" sz="1100" dirty="0"/>
          </a:p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4F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60350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health caregivers are required to wear PPE (masks, gloves) during certain visits.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today relies on self-reporting and occasional manual supervisor spot-checks.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does not scale across a large caregiver workforce and creates gaps during infection-control audits.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4480560"/>
            <a:ext cx="6035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cares: </a:t>
            </a:r>
            <a:r>
              <a:rPr lang="en-US" sz="14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Agency compliance officers, supervisors, and payer/UHC infection-control audits.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040880" y="1371600"/>
            <a:ext cx="448056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A2B33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040880" y="164592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CHECKS DON'T SCALE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040880" y="201168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7406640" y="30632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spot-check per visit — no continuous verification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06640" y="3794760"/>
            <a:ext cx="3749040" cy="0"/>
          </a:xfrm>
          <a:prstGeom prst="line">
            <a:avLst/>
          </a:prstGeom>
          <a:noFill/>
          <a:ln w="12700">
            <a:solidFill>
              <a:srgbClr val="D9E2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39776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06640" y="434340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PPE compliance is both a health risk and a documentation liability during audits.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Compliance Detector  |  ITAI 1378 Final Presentation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4F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Solution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detection system that scans a photo of a caregiver and automatically flags PPE compliance — in real time, with no manual review.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2468880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2B33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743200"/>
            <a:ext cx="548640" cy="548640"/>
          </a:xfrm>
          <a:prstGeom prst="ellipse">
            <a:avLst/>
          </a:prstGeom>
          <a:solidFill>
            <a:srgbClr val="0B4F6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6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4F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photo of the caregiver is taken at check-in or during a visit.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977640" y="329184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97680" y="2468880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2B33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2743200"/>
            <a:ext cx="548640" cy="548640"/>
          </a:xfrm>
          <a:prstGeom prst="ellipse">
            <a:avLst/>
          </a:prstGeom>
          <a:solidFill>
            <a:srgbClr val="0B4F6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60" dirty="0"/>
          </a:p>
        </p:txBody>
      </p:sp>
      <p:sp>
        <p:nvSpPr>
          <p:cNvPr id="13" name="Text 11"/>
          <p:cNvSpPr/>
          <p:nvPr/>
        </p:nvSpPr>
        <p:spPr>
          <a:xfrm>
            <a:off x="4572000" y="34290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4F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72000" y="384048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fine-tuned YOLOv8 model scans the image for mask presence and placement.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726680" y="329184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046720" y="2468880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2B33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743200"/>
            <a:ext cx="548640" cy="54864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60" dirty="0"/>
          </a:p>
        </p:txBody>
      </p:sp>
      <p:sp>
        <p:nvSpPr>
          <p:cNvPr id="19" name="Text 17"/>
          <p:cNvSpPr/>
          <p:nvPr/>
        </p:nvSpPr>
        <p:spPr>
          <a:xfrm>
            <a:off x="8321040" y="34290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4F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Flag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21040" y="384048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outputs a clear compliant / non-compliant result instantly.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16636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0B4F6C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5166360"/>
            <a:ext cx="10332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E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  </a:t>
            </a:r>
            <a:r>
              <a:rPr lang="en-US" sz="1400" dirty="0">
                <a:solidFill>
                  <a:srgbClr val="CA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mask detected correctly</a:t>
            </a: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⚠ Non-Compliant   </a:t>
            </a:r>
            <a:r>
              <a:rPr lang="en-US" sz="1400" dirty="0">
                <a:solidFill>
                  <a:srgbClr val="CA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mask missing or worn incorrectly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Compliance Detector  |  ITAI 1378 Final Presentation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4F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Approach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42900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2B33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417320"/>
            <a:ext cx="3429000" cy="502920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CA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Detection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boxes localize exactly where PPE is present or missing — not just a whole-image label.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97680" y="1417320"/>
            <a:ext cx="342900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2B33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297680" y="1417320"/>
            <a:ext cx="3429000" cy="502920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1417320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CA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210312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YOLOv8n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26280" y="27889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for 75 epochs on free Colab GPU — fast to train, strong results for its size.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0" y="1417320"/>
            <a:ext cx="342900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2B33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17320"/>
            <a:ext cx="3429000" cy="502920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0" y="1417320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CA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75320" y="210312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Ultralytics (PyTorch)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75320" y="27889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 tooling, strong community support for PPE-style datasets, minimal boilerplate.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44348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stack: </a:t>
            </a:r>
            <a:r>
              <a:rPr lang="en-US" sz="14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scope realistic for the timeline — real training and evaluation, without custom architecture design or manual labeling.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Compliance Detector  |  ITAI 1378 Final Presentation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4F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Plan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383280" cy="4206240"/>
          </a:xfrm>
          <a:prstGeom prst="roundRect">
            <a:avLst>
              <a:gd name="adj" fmla="val 3243"/>
            </a:avLst>
          </a:prstGeom>
          <a:solidFill>
            <a:srgbClr val="0B4F6C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7373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8FA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SIZE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4,547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images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68680" y="3611880"/>
            <a:ext cx="2743200" cy="0"/>
          </a:xfrm>
          <a:prstGeom prst="line">
            <a:avLst/>
          </a:prstGeom>
          <a:noFill/>
          <a:ln w="12700">
            <a:solidFill>
              <a:srgbClr val="3D6A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7490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FA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406908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Roboflow Universe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“Mask-Detection-YOLOv8” (AGH)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50749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FA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License: CC BY 4.0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06240" y="1463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(3 classes)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206240" y="1920240"/>
            <a:ext cx="2286000" cy="502920"/>
          </a:xfrm>
          <a:prstGeom prst="roundRect">
            <a:avLst>
              <a:gd name="adj" fmla="val 50909"/>
            </a:avLst>
          </a:prstGeom>
          <a:solidFill>
            <a:srgbClr val="2E8B57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0" y="19202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with_mask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675120" y="1920240"/>
            <a:ext cx="2286000" cy="502920"/>
          </a:xfrm>
          <a:prstGeom prst="roundRect">
            <a:avLst>
              <a:gd name="adj" fmla="val 50909"/>
            </a:avLst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19202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without_mask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144000" y="1920240"/>
            <a:ext cx="2286000" cy="502920"/>
          </a:xfrm>
          <a:prstGeom prst="roundRect">
            <a:avLst>
              <a:gd name="adj" fmla="val 50909"/>
            </a:avLst>
          </a:prstGeom>
          <a:solidFill>
            <a:srgbClr val="FF6B35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0" y="19202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incorrectly_worn_mask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206240" y="260604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deliverable: with_mask / without_mask. Incorrect-mask detection is a stretch goal.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206240" y="3291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Preparation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206240" y="3703320"/>
            <a:ext cx="72237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manual labeling — dataset ships pre-annotated in YOLO format.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Exported directly via the Roboflow Python package.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Ultralytics augmentation applied at train time (flip, mosaic, brightness).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Compliance Detector  |  ITAI 1378 Final Presentation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4F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Diagram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2377440"/>
            <a:ext cx="2423160" cy="1828800"/>
          </a:xfrm>
          <a:prstGeom prst="roundRect">
            <a:avLst>
              <a:gd name="adj" fmla="val 5000"/>
            </a:avLst>
          </a:prstGeom>
          <a:solidFill>
            <a:srgbClr val="0B4F6C"/>
          </a:solidFill>
          <a:ln/>
          <a:effectLst>
            <a:outerShdw blurRad="76200" dist="25400" dir="5400000" algn="bl" rotWithShape="0">
              <a:srgbClr val="1A2B33">
                <a:alpha val="2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24688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A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288036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34747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of caregiver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971800" y="292608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429000" y="2377440"/>
            <a:ext cx="2423160" cy="1828800"/>
          </a:xfrm>
          <a:prstGeom prst="roundRect">
            <a:avLst>
              <a:gd name="adj" fmla="val 5000"/>
            </a:avLst>
          </a:prstGeom>
          <a:solidFill>
            <a:srgbClr val="0B4F6C"/>
          </a:solidFill>
          <a:ln/>
          <a:effectLst>
            <a:outerShdw blurRad="76200" dist="25400" dir="5400000" algn="bl" rotWithShape="0">
              <a:srgbClr val="1A2B33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66160" y="24688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A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66160" y="288036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YOLOv8 Inference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66160" y="34747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person + PPE regions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852160" y="292608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309360" y="2377440"/>
            <a:ext cx="2423160" cy="1828800"/>
          </a:xfrm>
          <a:prstGeom prst="roundRect">
            <a:avLst>
              <a:gd name="adj" fmla="val 5000"/>
            </a:avLst>
          </a:prstGeom>
          <a:solidFill>
            <a:srgbClr val="0B4F6C"/>
          </a:solidFill>
          <a:ln/>
          <a:effectLst>
            <a:outerShdw blurRad="76200" dist="25400" dir="5400000" algn="bl" rotWithShape="0">
              <a:srgbClr val="1A2B33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24688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A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46520" y="288036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Post-Processing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46520" y="34747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mask / no-mask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732520" y="292608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9189720" y="2377440"/>
            <a:ext cx="2423160" cy="1828800"/>
          </a:xfrm>
          <a:prstGeom prst="roundRect">
            <a:avLst>
              <a:gd name="adj" fmla="val 5000"/>
            </a:avLst>
          </a:prstGeom>
          <a:solidFill>
            <a:srgbClr val="FF6B35"/>
          </a:solidFill>
          <a:ln/>
          <a:effectLst>
            <a:outerShdw blurRad="76200" dist="25400" dir="5400000" algn="bl" rotWithShape="0">
              <a:srgbClr val="1A2B33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326880" y="24688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326880" y="288036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326880" y="34747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A2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image + compliance flag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46634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is intentionally linear — one photo in, one clear compliance flag out. No manual review step required.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Compliance Detector  |  ITAI 1378 Final Presentation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4F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Results</a:t>
            </a:r>
            <a:endParaRPr lang="en-US" sz="3200" dirty="0"/>
          </a:p>
        </p:txBody>
      </p:sp>
      <p:pic>
        <p:nvPicPr>
          <p:cNvPr id="3" name="Image 0" descr="/home/claude/pptx_build/training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97280"/>
            <a:ext cx="6949440" cy="3200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0" y="1097280"/>
            <a:ext cx="38404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1A2B33">
                <a:alpha val="18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8001000" y="1188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mAP@0.5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001000" y="141732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90.0%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7772400" y="2194560"/>
            <a:ext cx="38404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1A2B33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001000" y="2286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01000" y="25146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4F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93.4%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7772400" y="3291840"/>
            <a:ext cx="38404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1A2B33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001000" y="3383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001000" y="36118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82.5%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7772400" y="443484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epochs  ·  </a:t>
            </a:r>
            <a:r>
              <a:rPr lang="en-US" sz="12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76.4 min total training time on Colab T4 GPU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4526280"/>
            <a:ext cx="6949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exceeded our 75–80% mAP target, matching published benchmarks (~91%) for similar fine-tuned models on this dataset.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Compliance Detector  |  ITAI 1378 Final Presentation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4F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Gradio interface — upload a photo, get an instant compliance flag.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20440" cy="411480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1A2B33">
                <a:alpha val="18000"/>
              </a:srgbClr>
            </a:outerShdw>
          </a:effectLst>
        </p:spPr>
      </p:sp>
      <p:pic>
        <p:nvPicPr>
          <p:cNvPr id="5" name="Image 0" descr="/home/claude/pptx_build/dem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3337560" cy="3566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5193792"/>
            <a:ext cx="3246120" cy="320040"/>
          </a:xfrm>
          <a:prstGeom prst="roundRect">
            <a:avLst>
              <a:gd name="adj" fmla="val 48571"/>
            </a:avLst>
          </a:prstGeom>
          <a:solidFill>
            <a:srgbClr val="C0392B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5193792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NON-COMPLIANT — mask missing (0.87)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297680" y="1463040"/>
            <a:ext cx="3520440" cy="411480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1A2B33">
                <a:alpha val="18000"/>
              </a:srgbClr>
            </a:outerShdw>
          </a:effectLst>
        </p:spPr>
      </p:sp>
      <p:pic>
        <p:nvPicPr>
          <p:cNvPr id="9" name="Image 1" descr="/home/claude/pptx_build/dem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554480"/>
            <a:ext cx="3337560" cy="35661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34840" y="5193792"/>
            <a:ext cx="3246120" cy="320040"/>
          </a:xfrm>
          <a:prstGeom prst="roundRect">
            <a:avLst>
              <a:gd name="adj" fmla="val 48571"/>
            </a:avLst>
          </a:prstGeom>
          <a:solidFill>
            <a:srgbClr val="C0392B"/>
          </a:solidFill>
          <a:ln/>
        </p:spPr>
      </p:sp>
      <p:sp>
        <p:nvSpPr>
          <p:cNvPr id="11" name="Text 7"/>
          <p:cNvSpPr/>
          <p:nvPr/>
        </p:nvSpPr>
        <p:spPr>
          <a:xfrm>
            <a:off x="4434840" y="5193792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NON-COMPLIANT — mask missing (0.90)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8046720" y="1463040"/>
            <a:ext cx="3520440" cy="411480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1A2B33">
                <a:alpha val="18000"/>
              </a:srgbClr>
            </a:outerShdw>
          </a:effectLst>
        </p:spPr>
      </p:sp>
      <p:pic>
        <p:nvPicPr>
          <p:cNvPr id="13" name="Image 2" descr="/home/claude/pptx_build/dem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554480"/>
            <a:ext cx="3337560" cy="356616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183880" y="5193792"/>
            <a:ext cx="3246120" cy="320040"/>
          </a:xfrm>
          <a:prstGeom prst="roundRect">
            <a:avLst>
              <a:gd name="adj" fmla="val 48571"/>
            </a:avLst>
          </a:prstGeom>
          <a:solidFill>
            <a:srgbClr val="2E8B57"/>
          </a:solidFill>
          <a:ln/>
        </p:spPr>
      </p:sp>
      <p:sp>
        <p:nvSpPr>
          <p:cNvPr id="15" name="Text 10"/>
          <p:cNvSpPr/>
          <p:nvPr/>
        </p:nvSpPr>
        <p:spPr>
          <a:xfrm>
            <a:off x="8183880" y="5193792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— both masks detected (0.84, 0.83)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Compliance Detector  |  ITAI 1378 Final Presentation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4F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Metrics: Target vs. Actual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035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2B33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463040"/>
            <a:ext cx="5303520" cy="502920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630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CA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METRIC — mAP@0.5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≥ 75–80%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5303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90.0%</a:t>
            </a:r>
            <a:endParaRPr lang="en-US" sz="6000" dirty="0"/>
          </a:p>
        </p:txBody>
      </p:sp>
      <p:sp>
        <p:nvSpPr>
          <p:cNvPr id="8" name="Shape 6"/>
          <p:cNvSpPr/>
          <p:nvPr/>
        </p:nvSpPr>
        <p:spPr>
          <a:xfrm>
            <a:off x="1463040" y="3749040"/>
            <a:ext cx="3474720" cy="45720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7490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TARGET EXCEEDED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434340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single checkpoint (epoch 64) hit 90.5% — model stayed stable through training.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72200" y="1463040"/>
            <a:ext cx="53035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2B33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72200" y="1463040"/>
            <a:ext cx="5303520" cy="502920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13" name="Text 11"/>
          <p:cNvSpPr/>
          <p:nvPr/>
        </p:nvSpPr>
        <p:spPr>
          <a:xfrm>
            <a:off x="6172200" y="14630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CA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METRIC — SPEED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72200" y="21031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&lt; 0.5s / image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172200" y="251460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B4F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Precision 93.4%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172200" y="32461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82.5%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629400" y="402336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fast, responsive inference during live Gradio demo — well under a second per image.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Compliance Detector  |  ITAI 1378 Final Presentation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4F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Timeline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417320" y="2011680"/>
            <a:ext cx="9235440" cy="0"/>
          </a:xfrm>
          <a:prstGeom prst="line">
            <a:avLst/>
          </a:prstGeom>
          <a:noFill/>
          <a:ln w="25400">
            <a:solidFill>
              <a:srgbClr val="D9E2E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1691640"/>
            <a:ext cx="640080" cy="64008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2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1737360" cy="2011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1A2B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" y="2651760"/>
            <a:ext cx="151790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+ environment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3611880"/>
            <a:ext cx="1517904" cy="0"/>
          </a:xfrm>
          <a:prstGeom prst="line">
            <a:avLst/>
          </a:prstGeom>
          <a:noFill/>
          <a:ln w="12700">
            <a:solidFill>
              <a:srgbClr val="E5EB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703320"/>
            <a:ext cx="151790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944368" y="1691640"/>
            <a:ext cx="640080" cy="64008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1" name="Text 9"/>
          <p:cNvSpPr/>
          <p:nvPr/>
        </p:nvSpPr>
        <p:spPr>
          <a:xfrm>
            <a:off x="2944368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20" dirty="0"/>
          </a:p>
        </p:txBody>
      </p:sp>
      <p:sp>
        <p:nvSpPr>
          <p:cNvPr id="12" name="Shape 10"/>
          <p:cNvSpPr/>
          <p:nvPr/>
        </p:nvSpPr>
        <p:spPr>
          <a:xfrm>
            <a:off x="2395728" y="2514600"/>
            <a:ext cx="1737360" cy="2011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1A2B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505456" y="2651760"/>
            <a:ext cx="151790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Sanity-check run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505456" y="3611880"/>
            <a:ext cx="1517904" cy="0"/>
          </a:xfrm>
          <a:prstGeom prst="line">
            <a:avLst/>
          </a:prstGeom>
          <a:noFill/>
          <a:ln w="12700">
            <a:solidFill>
              <a:srgbClr val="E5EB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05456" y="3703320"/>
            <a:ext cx="151790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91456" y="1691640"/>
            <a:ext cx="640080" cy="64008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7" name="Text 15"/>
          <p:cNvSpPr/>
          <p:nvPr/>
        </p:nvSpPr>
        <p:spPr>
          <a:xfrm>
            <a:off x="4791456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20" dirty="0"/>
          </a:p>
        </p:txBody>
      </p:sp>
      <p:sp>
        <p:nvSpPr>
          <p:cNvPr id="18" name="Shape 16"/>
          <p:cNvSpPr/>
          <p:nvPr/>
        </p:nvSpPr>
        <p:spPr>
          <a:xfrm>
            <a:off x="4242816" y="2514600"/>
            <a:ext cx="1737360" cy="2011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1A2B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352544" y="2651760"/>
            <a:ext cx="151790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training + tuning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52544" y="3611880"/>
            <a:ext cx="1517904" cy="0"/>
          </a:xfrm>
          <a:prstGeom prst="line">
            <a:avLst/>
          </a:prstGeom>
          <a:noFill/>
          <a:ln w="12700">
            <a:solidFill>
              <a:srgbClr val="E5EB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52544" y="3703320"/>
            <a:ext cx="151790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mAP reached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38544" y="1691640"/>
            <a:ext cx="640080" cy="64008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23" name="Text 21"/>
          <p:cNvSpPr/>
          <p:nvPr/>
        </p:nvSpPr>
        <p:spPr>
          <a:xfrm>
            <a:off x="6638544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20" dirty="0"/>
          </a:p>
        </p:txBody>
      </p:sp>
      <p:sp>
        <p:nvSpPr>
          <p:cNvPr id="24" name="Shape 22"/>
          <p:cNvSpPr/>
          <p:nvPr/>
        </p:nvSpPr>
        <p:spPr>
          <a:xfrm>
            <a:off x="6089904" y="2514600"/>
            <a:ext cx="1737360" cy="2011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1A2B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199632" y="2651760"/>
            <a:ext cx="151790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demo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99632" y="3611880"/>
            <a:ext cx="1517904" cy="0"/>
          </a:xfrm>
          <a:prstGeom prst="line">
            <a:avLst/>
          </a:prstGeom>
          <a:noFill/>
          <a:ln w="12700">
            <a:solidFill>
              <a:srgbClr val="E5EB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99632" y="3703320"/>
            <a:ext cx="151790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demo live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485632" y="1691640"/>
            <a:ext cx="640080" cy="64008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29" name="Text 27"/>
          <p:cNvSpPr/>
          <p:nvPr/>
        </p:nvSpPr>
        <p:spPr>
          <a:xfrm>
            <a:off x="8485632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20" dirty="0"/>
          </a:p>
        </p:txBody>
      </p:sp>
      <p:sp>
        <p:nvSpPr>
          <p:cNvPr id="30" name="Shape 28"/>
          <p:cNvSpPr/>
          <p:nvPr/>
        </p:nvSpPr>
        <p:spPr>
          <a:xfrm>
            <a:off x="7936992" y="2514600"/>
            <a:ext cx="1737360" cy="2011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1A2B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046720" y="2651760"/>
            <a:ext cx="151790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Docs, slides, rehearse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046720" y="3611880"/>
            <a:ext cx="1517904" cy="0"/>
          </a:xfrm>
          <a:prstGeom prst="line">
            <a:avLst/>
          </a:prstGeom>
          <a:noFill/>
          <a:ln w="12700">
            <a:solidFill>
              <a:srgbClr val="E5EBE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6720" y="3703320"/>
            <a:ext cx="151790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0332720" y="1691640"/>
            <a:ext cx="640080" cy="64008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5" name="Text 33"/>
          <p:cNvSpPr/>
          <p:nvPr/>
        </p:nvSpPr>
        <p:spPr>
          <a:xfrm>
            <a:off x="10332720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20" dirty="0"/>
          </a:p>
        </p:txBody>
      </p:sp>
      <p:sp>
        <p:nvSpPr>
          <p:cNvPr id="36" name="Shape 34"/>
          <p:cNvSpPr/>
          <p:nvPr/>
        </p:nvSpPr>
        <p:spPr>
          <a:xfrm>
            <a:off x="9784080" y="2514600"/>
            <a:ext cx="1737360" cy="2011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1A2B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9893808" y="2651760"/>
            <a:ext cx="151790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9893808" y="3611880"/>
            <a:ext cx="1517904" cy="0"/>
          </a:xfrm>
          <a:prstGeom prst="line">
            <a:avLst/>
          </a:prstGeom>
          <a:noFill/>
          <a:ln w="12700">
            <a:solidFill>
              <a:srgbClr val="E5EBE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893808" y="3703320"/>
            <a:ext cx="151790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🎉 Today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Compliance Detector  |  ITAI 1378 Final Presentation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4F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What We Learned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64240" cy="502920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06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We Handled 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75-epoch run took ~76 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checkpointing (save_period=10) so progress was never lost to a Colab disconnect.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mismatch (dataset ≠ real home visits)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Accepted as a known limitation — can't use real patient photos for privacy reasons.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Confirming target vs. actual model quality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Cross-checked our 90% mAP against a published benchmark on the same dataset (~91%) to validate the result was reasonable, not a fluke.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Turning raw detections into a usable signal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a simple compliance-flag function on top of raw YOLO output, then wrapped it in a Gradio UI for a real interactive demo.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Compliance Detector  |  ITAI 1378 Final Presentation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4F6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3A50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429000" cy="2286000"/>
          </a:xfrm>
          <a:prstGeom prst="roundRect">
            <a:avLst>
              <a:gd name="adj" fmla="val 4000"/>
            </a:avLst>
          </a:prstGeom>
          <a:solidFill>
            <a:srgbClr val="083A50"/>
          </a:solidFill>
          <a:ln w="12700">
            <a:solidFill>
              <a:srgbClr val="1F6E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FA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2971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Colab T4 GPU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97180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A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76.4 min total training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97680" y="1554480"/>
            <a:ext cx="3429000" cy="2286000"/>
          </a:xfrm>
          <a:prstGeom prst="roundRect">
            <a:avLst>
              <a:gd name="adj" fmla="val 4000"/>
            </a:avLst>
          </a:prstGeom>
          <a:solidFill>
            <a:srgbClr val="083A50"/>
          </a:solidFill>
          <a:ln w="12700">
            <a:solidFill>
              <a:srgbClr val="1F6E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17830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FA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26280" y="2194560"/>
            <a:ext cx="2971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Ultralytics YOLOv8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26280" y="297180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A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· Roboflow · Gradio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554480"/>
            <a:ext cx="3429000" cy="2286000"/>
          </a:xfrm>
          <a:prstGeom prst="roundRect">
            <a:avLst>
              <a:gd name="adj" fmla="val 4000"/>
            </a:avLst>
          </a:prstGeom>
          <a:solidFill>
            <a:srgbClr val="083A50"/>
          </a:solidFill>
          <a:ln w="12700">
            <a:solidFill>
              <a:srgbClr val="1F6E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5320" y="17830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FA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75320" y="2194560"/>
            <a:ext cx="2971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275320" y="31546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A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tiers covered the full project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206240"/>
            <a:ext cx="11064240" cy="0"/>
          </a:xfrm>
          <a:prstGeom prst="line">
            <a:avLst/>
          </a:prstGeom>
          <a:noFill/>
          <a:ln w="12700">
            <a:solidFill>
              <a:srgbClr val="1F6E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4805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PPE compliance detector — 90% mAP, real-time demo, built on public data and free compute.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5486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 welcome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Compliance Detector  |  ITAI 1378 Final Presentation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923</Words>
  <Application>Microsoft Office PowerPoint</Application>
  <PresentationFormat>Widescreen</PresentationFormat>
  <Paragraphs>179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nhathuy.nguyen-W214624939</cp:lastModifiedBy>
  <cp:revision>2</cp:revision>
  <dcterms:created xsi:type="dcterms:W3CDTF">2026-07-28T21:32:40Z</dcterms:created>
  <dcterms:modified xsi:type="dcterms:W3CDTF">2026-07-28T23:24:56Z</dcterms:modified>
</cp:coreProperties>
</file>